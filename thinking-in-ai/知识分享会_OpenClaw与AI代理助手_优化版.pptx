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76" r:id="rId14"/>
    <p:sldId id="268" r:id="rId15"/>
    <p:sldId id="275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2"/>
  </p:normalViewPr>
  <p:slideViewPr>
    <p:cSldViewPr snapToGrid="0" snapToObjects="1" showGuides="1">
      <p:cViewPr varScale="1">
        <p:scale>
          <a:sx n="111" d="100"/>
          <a:sy n="111" d="100"/>
        </p:scale>
        <p:origin x="632" y="192"/>
      </p:cViewPr>
      <p:guideLst>
        <p:guide orient="horz" pos="218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198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222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837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956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2703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476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314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708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665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687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8073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6520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480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2736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9072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19836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0326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233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.png"/><Relationship Id="rId1" Type="http://schemas.openxmlformats.org/officeDocument/2006/relationships/tags" Target="../tags/tag1.xml"/><Relationship Id="rId2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1E3A5F"/>
                </a:solidFill>
                <a:latin typeface="微软雅黑"/>
              </a:defRPr>
            </a:pPr>
            <a:r>
              <a:t>AI 代理助手与 OpenClaw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33333"/>
                </a:solidFill>
                <a:latin typeface="微软雅黑"/>
              </a:defRPr>
            </a:pPr>
            <a:r>
              <a:t>从概念到实践的技术分享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5F"/>
                </a:solidFill>
                <a:latin typeface="微软雅黑"/>
              </a:defRPr>
            </a:pPr>
            <a:r>
              <a:t>目录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0040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6B35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  <a:latin typeface="微软雅黑"/>
              </a:defRPr>
            </a:pPr>
            <a:r>
              <a:t>基础概念扫盲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2489835" cy="1489710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/>
          <a:p>
            <a:pPr algn="l">
              <a:defRPr sz="1400">
                <a:solidFill>
                  <a:srgbClr val="333333"/>
                </a:solidFill>
                <a:latin typeface="微软雅黑"/>
              </a:defRPr>
            </a:pPr>
            <a:r>
              <a:t>LLM ·Prompt · Token · Function Calling · Agent · MCP · Skills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20040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21031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6B35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92608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  <a:latin typeface="微软雅黑"/>
              </a:defRPr>
            </a:pPr>
            <a:r>
              <a:t>OpenClaw 深度解析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65760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微软雅黑"/>
              </a:defRPr>
            </a:pPr>
            <a:r>
              <a:t>核心价值 · 交互流程 · 架构设计 · 部署形式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20040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21031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6B35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92608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  <a:latin typeface="微软雅黑"/>
              </a:defRPr>
            </a:pPr>
            <a:r>
              <a:t>未来展望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65760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微软雅黑"/>
              </a:defRPr>
            </a:pPr>
            <a:r>
              <a:t>AI代理助手的演进与应用场景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微软雅黑"/>
              </a:defRPr>
            </a:pPr>
            <a: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8C8C8"/>
                </a:solidFill>
                <a:latin typeface="微软雅黑"/>
              </a:defRPr>
            </a:pPr>
            <a:r>
              <a:t>基础概念扫盲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5F"/>
                </a:solidFill>
                <a:latin typeface="微软雅黑"/>
              </a:defRPr>
            </a:pPr>
            <a:r>
              <a:t>什么是 LLM？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FFF3E0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微软雅黑"/>
              </a:defRPr>
            </a:pPr>
            <a:r>
              <a:t>LLM（大型语言模型）就像一个"读过 billions 本书的图书馆管理员"，能够</a:t>
            </a:r>
            <a:r>
              <a:rPr b="1">
                <a:solidFill>
                  <a:srgbClr val="FF0000"/>
                </a:solidFill>
                <a:latin typeface="Arial Bold" panose="020B0704020202020204" charset="0"/>
              </a:rPr>
              <a:t>理解</a:t>
            </a:r>
            <a:r>
              <a:t>和</a:t>
            </a:r>
            <a:r>
              <a:rPr b="1">
                <a:solidFill>
                  <a:srgbClr val="FF0000"/>
                </a:solidFill>
                <a:latin typeface="Arial Bold" panose="020B0704020202020204" charset="0"/>
              </a:rPr>
              <a:t>生成</a:t>
            </a:r>
            <a:r>
              <a:t>自然语言。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474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B35"/>
                </a:solidFill>
                <a:latin typeface="微软雅黑"/>
              </a:defRPr>
            </a:pPr>
            <a:r>
              <a:t>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  <a:latin typeface="微软雅黑"/>
              </a:defRPr>
            </a:pPr>
            <a:r>
              <a:t>为什么出现？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微软雅黑"/>
              </a:defRPr>
            </a:pPr>
            <a:r>
              <a:t>传统AI只能处理特定任务，</a:t>
            </a:r>
            <a:br/>
            <a:r>
              <a:t>LLM通过海量文本学习，</a:t>
            </a:r>
            <a:br/>
            <a:r>
              <a:t>具备了通用语言能力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743200"/>
            <a:ext cx="3474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39" y="30175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B35"/>
                </a:solidFill>
                <a:latin typeface="微软雅黑"/>
              </a:defRPr>
            </a:pPr>
            <a:r>
              <a:t>核心能力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34747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  <a:latin typeface="微软雅黑"/>
              </a:defRPr>
            </a:pPr>
            <a:r>
              <a:t>能做什么？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39319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微软雅黑"/>
              </a:defRPr>
            </a:pPr>
            <a:r>
              <a:t>理解上下文 + 生成文本</a:t>
            </a:r>
            <a:br/>
            <a:r>
              <a:t>回答问题、写文章、</a:t>
            </a:r>
            <a:br/>
            <a:r>
              <a:t>翻译、编程辅助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743200"/>
            <a:ext cx="3474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30175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B35"/>
                </a:solidFill>
                <a:latin typeface="微软雅黑"/>
              </a:defRPr>
            </a:pPr>
            <a:r>
              <a:t>典型代表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4747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  <a:latin typeface="微软雅黑"/>
              </a:defRPr>
            </a:pPr>
            <a:r>
              <a:t>有哪些？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9319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微软雅黑"/>
              </a:defRPr>
            </a:pPr>
            <a:r>
              <a:t>GPT-4、Claude、</a:t>
            </a:r>
            <a:br/>
            <a:r>
              <a:t>Kimi、文心一言、</a:t>
            </a:r>
            <a:br/>
            <a:r>
              <a:t>通义千问等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5F"/>
                </a:solidFill>
                <a:latin typeface="微软雅黑"/>
              </a:defRPr>
            </a:pPr>
            <a:r>
              <a:t>Prompt：与 AI 对话的"钥匙"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微软雅黑"/>
              </a:defRPr>
            </a:pPr>
            <a:r>
              <a:t>Prompt（提示词）是你给AI的"指令"，告诉它你想要什么。同样的AI，不同的Prompt，结果天壤之别。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4114800"/>
          </a:xfrm>
          <a:prstGeom prst="roundRect">
            <a:avLst/>
          </a:prstGeom>
          <a:solidFill>
            <a:srgbClr val="FFEBEE"/>
          </a:solidFill>
          <a:ln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62828"/>
                </a:solidFill>
                <a:latin typeface="微软雅黑"/>
              </a:defRPr>
            </a:pPr>
            <a:r>
              <a:t>【反面示例】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/>
              </a:defRPr>
            </a:pPr>
            <a:r>
              <a:t>Prompt: "写个产品介绍"</a:t>
            </a:r>
          </a:p>
          <a:p>
            <a:endParaRPr/>
          </a:p>
          <a:p>
            <a:pPr>
              <a:defRPr sz="1400">
                <a:solidFill>
                  <a:srgbClr val="646464"/>
                </a:solidFill>
                <a:latin typeface="微软雅黑"/>
              </a:defRPr>
            </a:pPr>
            <a:r>
              <a:t>结果：AI不知道产品是什么、面向谁、要突出什么特点，生成的内容泛泛而谈。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029200" cy="4114800"/>
          </a:xfrm>
          <a:prstGeom prst="roundRect">
            <a:avLst/>
          </a:prstGeom>
          <a:solidFill>
            <a:srgbClr val="E8F5E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  <a:latin typeface="微软雅黑"/>
              </a:defRPr>
            </a:pPr>
            <a:r>
              <a:t>【优秀示例】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/>
              </a:defRPr>
            </a:pPr>
            <a:r>
              <a:t>Prompt: "请为一款面向25-35岁职场白领的降噪耳机撰写产品介绍，突出3个核心卖点：40dB深度降噪、48小时续航、佩戴舒适。字数控制在200字左右。"</a:t>
            </a:r>
          </a:p>
          <a:p>
            <a:endParaRPr/>
          </a:p>
          <a:p>
            <a:pPr>
              <a:defRPr sz="1400">
                <a:solidFill>
                  <a:srgbClr val="646464"/>
                </a:solidFill>
                <a:latin typeface="微软雅黑"/>
              </a:defRPr>
            </a:pPr>
            <a:r>
              <a:t>结果：AI明确知道目标用户、产品特点、字数要求，生成精准到位的内容。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5F"/>
                </a:solidFill>
                <a:latin typeface="微软雅黑"/>
              </a:defRPr>
            </a:pPr>
            <a:r>
              <a:t>Token：AI的"积木单元"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微软雅黑"/>
              </a:defRPr>
            </a:pPr>
            <a:r>
              <a:t>Token是AI处理文本的最小单位，类似于乐高积木。一个token可能是一个字、一个词，或词的一部分。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4114800"/>
          </a:xfrm>
          <a:prstGeom prst="roundRect">
            <a:avLst/>
          </a:prstGeom>
          <a:solidFill>
            <a:srgbClr val="FFF8E1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B35"/>
                </a:solidFill>
                <a:latin typeface="微软雅黑"/>
              </a:defRPr>
            </a:pPr>
            <a:r>
              <a:t>【类比理解】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微软雅黑"/>
              </a:defRPr>
            </a:pPr>
            <a:r>
              <a:t>就像用积木拼句子：</a:t>
            </a:r>
          </a:p>
          <a:p>
            <a:pPr>
              <a:defRPr sz="1400">
                <a:solidFill>
                  <a:srgbClr val="646464"/>
                </a:solidFill>
                <a:latin typeface="微软雅黑"/>
              </a:defRPr>
            </a:pPr>
            <a:r>
              <a:t>• 中文："我爱AI" ≈ 4-5个token</a:t>
            </a:r>
          </a:p>
          <a:p>
            <a:pPr>
              <a:defRPr sz="1400">
                <a:solidFill>
                  <a:srgbClr val="646464"/>
                </a:solidFill>
                <a:latin typeface="微软雅黑"/>
              </a:defRPr>
            </a:pPr>
            <a:r>
              <a:t>• 英文："I love AI" ≈ 4个token</a:t>
            </a:r>
          </a:p>
          <a:p>
            <a:pPr>
              <a:defRPr sz="1400">
                <a:solidFill>
                  <a:srgbClr val="646464"/>
                </a:solidFill>
                <a:latin typeface="微软雅黑"/>
              </a:defRPr>
            </a:pPr>
            <a:r>
              <a:t>• "Unbelievable" ≈ 3个token（Un + believe + able）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029200" cy="4114800"/>
          </a:xfrm>
          <a:prstGeom prst="roundRect">
            <a:avLst/>
          </a:prstGeom>
          <a:solidFill>
            <a:srgbClr val="E3F2F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  <a:latin typeface="微软雅黑"/>
              </a:defRPr>
            </a:pPr>
            <a:r>
              <a:t>【为什么重要？】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500" b="1">
                <a:solidFill>
                  <a:srgbClr val="333333"/>
                </a:solidFill>
                <a:latin typeface="微软雅黑"/>
              </a:defRPr>
            </a:pPr>
            <a:r>
              <a:t>【计费单位】</a:t>
            </a:r>
          </a:p>
          <a:p>
            <a:pPr>
              <a:defRPr sz="1300">
                <a:solidFill>
                  <a:srgbClr val="646464"/>
                </a:solidFill>
                <a:latin typeface="微软雅黑"/>
              </a:defRPr>
            </a:pPr>
            <a:r>
              <a:t>按token数量收费，输入+输出都算</a:t>
            </a:r>
          </a:p>
          <a:p>
            <a:endParaRPr/>
          </a:p>
          <a:p>
            <a:pPr>
              <a:defRPr sz="1500" b="1">
                <a:solidFill>
                  <a:srgbClr val="333333"/>
                </a:solidFill>
                <a:latin typeface="微软雅黑"/>
              </a:defRPr>
            </a:pPr>
            <a:r>
              <a:t>【上下文限制】</a:t>
            </a:r>
          </a:p>
          <a:p>
            <a:pPr>
              <a:defRPr sz="1300">
                <a:solidFill>
                  <a:srgbClr val="646464"/>
                </a:solidFill>
                <a:latin typeface="微软雅黑"/>
              </a:defRPr>
            </a:pPr>
            <a:r>
              <a:t>模型有最大token数，如4K、8K、128K</a:t>
            </a:r>
          </a:p>
          <a:p>
            <a:endParaRPr/>
          </a:p>
          <a:p>
            <a:pPr>
              <a:defRPr sz="1500" b="1">
                <a:solidFill>
                  <a:srgbClr val="333333"/>
                </a:solidFill>
                <a:latin typeface="微软雅黑"/>
              </a:defRPr>
            </a:pPr>
            <a:r>
              <a:t>【优化技巧】</a:t>
            </a:r>
          </a:p>
          <a:p>
            <a:pPr>
              <a:defRPr sz="1300">
                <a:solidFill>
                  <a:srgbClr val="646464"/>
                </a:solidFill>
                <a:latin typeface="微软雅黑"/>
              </a:defRPr>
            </a:pPr>
            <a:r>
              <a:t>简洁prompt = 节省token = 降低成本</a:t>
            </a:r>
          </a:p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5F"/>
                </a:solidFill>
                <a:latin typeface="微软雅黑"/>
              </a:defRPr>
            </a:pPr>
            <a:r>
              <a:t>Function Calling：让AI学会"动手"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微软雅黑"/>
              </a:defRPr>
            </a:pPr>
            <a:r>
              <a:t>Function Calling让AI不再只是"聊天"，而是能调用外部工具、获取实时数据、执行具体操作。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28600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用户提问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微软雅黑"/>
              </a:defRPr>
            </a:pPr>
            <a:r>
              <a:t>"北京今天天气怎么样？"</a:t>
            </a:r>
          </a:p>
        </p:txBody>
      </p:sp>
      <p:sp>
        <p:nvSpPr>
          <p:cNvPr id="9" name="Oval 8"/>
          <p:cNvSpPr/>
          <p:nvPr/>
        </p:nvSpPr>
        <p:spPr>
          <a:xfrm>
            <a:off x="3017520" y="228600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17520" y="23774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0175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AI判断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3832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微软雅黑"/>
              </a:defRPr>
            </a:pPr>
            <a:r>
              <a:t>需要调用天气API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0" y="228600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0" y="23774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0175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调用函数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3832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微软雅黑"/>
              </a:defRPr>
            </a:pPr>
            <a:r>
              <a:t>weather_API(city="北京")</a:t>
            </a:r>
          </a:p>
        </p:txBody>
      </p:sp>
      <p:sp>
        <p:nvSpPr>
          <p:cNvPr id="17" name="Oval 16"/>
          <p:cNvSpPr/>
          <p:nvPr/>
        </p:nvSpPr>
        <p:spPr>
          <a:xfrm>
            <a:off x="7589520" y="228600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0" y="23774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0175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获取数据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3832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微软雅黑"/>
              </a:defRPr>
            </a:pPr>
            <a:r>
              <a:t>温度、天气状况</a:t>
            </a:r>
          </a:p>
        </p:txBody>
      </p:sp>
      <p:sp>
        <p:nvSpPr>
          <p:cNvPr id="21" name="Oval 20"/>
          <p:cNvSpPr/>
          <p:nvPr/>
        </p:nvSpPr>
        <p:spPr>
          <a:xfrm>
            <a:off x="9875520" y="228600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0" y="23774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0175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生成回答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3832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微软雅黑"/>
              </a:defRPr>
            </a:pPr>
            <a:r>
              <a:t>"北京今天晴，25°C..."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72000"/>
            <a:ext cx="10698480" cy="1645920"/>
          </a:xfrm>
          <a:prstGeom prst="roundRect">
            <a:avLst/>
          </a:prstGeom>
          <a:solidFill>
            <a:srgbClr val="F3E5F5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A1B9A"/>
                </a:solidFill>
                <a:latin typeface="微软雅黑"/>
              </a:defRPr>
            </a:pPr>
            <a:r>
              <a:t>应用场景：查天气、查股价、预订酒店、控制智能家居、查询数据库...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5F"/>
                </a:solidFill>
                <a:latin typeface="微软雅黑"/>
              </a:defRPr>
            </a:pPr>
            <a:r>
              <a:t>Agent：AI的"自主行动"能力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微软雅黑"/>
              </a:defRPr>
            </a:pPr>
            <a:r>
              <a:t>Agent（智能体）= LLM + 规划能力 + 工具使用 + 记忆能力，能够自主完成复杂任务。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1097280"/>
          </a:xfrm>
          <a:prstGeom prst="roundRect">
            <a:avLst/>
          </a:prstGeom>
          <a:solidFill>
            <a:srgbClr val="FFF3E0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/>
              </a:defRPr>
            </a:pPr>
            <a:r>
              <a:t>【类比】传统AI像"问答机器人"，Agent像"智能管家"——你只说"帮我安排周末"，它会自己查天气、找餐厅、订电影票、规划路线。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26517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7490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5F"/>
                </a:solidFill>
                <a:latin typeface="微软雅黑"/>
              </a:defRPr>
            </a:pPr>
            <a:r>
              <a:t>规划能力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9768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微软雅黑"/>
              </a:defRPr>
            </a:pPr>
            <a:r>
              <a:t>拆解复杂任务</a:t>
            </a:r>
            <a:br/>
            <a:r>
              <a:t>制定执行步骤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3474720"/>
            <a:ext cx="26517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37490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5F"/>
                </a:solidFill>
                <a:latin typeface="微软雅黑"/>
              </a:defRPr>
            </a:pPr>
            <a:r>
              <a:t>工具使用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429768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微软雅黑"/>
              </a:defRPr>
            </a:pPr>
            <a:r>
              <a:t>调用API</a:t>
            </a:r>
            <a:br/>
            <a:r>
              <a:t>操作软件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474720"/>
            <a:ext cx="26517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37490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5F"/>
                </a:solidFill>
                <a:latin typeface="微软雅黑"/>
              </a:defRPr>
            </a:pPr>
            <a:r>
              <a:t>记忆能力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29768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微软雅黑"/>
              </a:defRPr>
            </a:pPr>
            <a:r>
              <a:t>记住上下文</a:t>
            </a:r>
            <a:br/>
            <a:r>
              <a:t>学习偏好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3474720"/>
            <a:ext cx="26517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72600" y="37490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5F"/>
                </a:solidFill>
                <a:latin typeface="微软雅黑"/>
              </a:defRPr>
            </a:pPr>
            <a:r>
              <a:t>自主决策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429768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微软雅黑"/>
              </a:defRPr>
            </a:pPr>
            <a:r>
              <a:t>判断何时</a:t>
            </a:r>
            <a:br/>
            <a:r>
              <a:t>调用什么工具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2343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5F"/>
                </a:solidFill>
                <a:latin typeface="微软雅黑"/>
              </a:defRPr>
            </a:pPr>
            <a:r>
              <a:t>Skills：</a:t>
            </a:r>
            <a:r>
              <a:rPr lang="en-US"/>
              <a:t>Agent</a:t>
            </a:r>
            <a:r>
              <a:t>的"技能包"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814832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微软雅黑"/>
              </a:defRPr>
            </a:pPr>
            <a:r>
              <a:t>Skills是封装好的功能模块，让</a:t>
            </a:r>
            <a:r>
              <a:rPr lang="en-US"/>
              <a:t>Agent</a:t>
            </a:r>
            <a:r>
              <a:t>具备特定能力，就像给</a:t>
            </a:r>
            <a:r>
              <a:rPr lang="en-US"/>
              <a:t>Agent</a:t>
            </a:r>
            <a:r>
              <a:t>安装"APP"。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914400"/>
          </a:xfrm>
          <a:prstGeom prst="roundRect">
            <a:avLst/>
          </a:prstGeom>
          <a:solidFill>
            <a:srgbClr val="FFF8E1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/>
              </a:defRPr>
            </a:pPr>
            <a:r>
              <a:t>【类比】Skills就像"工具箱"，每个skill是一个工具：锤子、螺丝刀、尺子...AI根据需要选择合适的工具。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5F"/>
                </a:solidFill>
                <a:latin typeface="微软雅黑"/>
              </a:defRPr>
            </a:pPr>
            <a:r>
              <a:t>天气查询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4904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微软雅黑"/>
              </a:defRPr>
            </a:pPr>
            <a:r>
              <a:t>获取实时天气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320040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19" y="33832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5F"/>
                </a:solidFill>
                <a:latin typeface="微软雅黑"/>
              </a:defRPr>
            </a:pPr>
            <a:r>
              <a:t>文件操作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374904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微软雅黑"/>
              </a:defRPr>
            </a:pPr>
            <a:r>
              <a:t>读写本地文件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20040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33832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5F"/>
                </a:solidFill>
                <a:latin typeface="微软雅黑"/>
              </a:defRPr>
            </a:pPr>
            <a:r>
              <a:t>网页搜索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74904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微软雅黑"/>
              </a:defRPr>
            </a:pPr>
            <a:r>
              <a:t>获取网络信息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0292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5F"/>
                </a:solidFill>
                <a:latin typeface="微软雅黑"/>
              </a:defRPr>
            </a:pPr>
            <a:r>
              <a:t>代码执行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9496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微软雅黑"/>
              </a:defRPr>
            </a:pPr>
            <a:r>
              <a:t>运行Python等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484632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7719" y="50292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5F"/>
                </a:solidFill>
                <a:latin typeface="微软雅黑"/>
              </a:defRPr>
            </a:pPr>
            <a:r>
              <a:t>数据库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19" y="539496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微软雅黑"/>
              </a:defRPr>
            </a:pPr>
            <a:r>
              <a:t>SQL查询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84632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50292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5F"/>
                </a:solidFill>
                <a:latin typeface="微软雅黑"/>
              </a:defRPr>
            </a:pPr>
            <a:r>
              <a:t>图像处理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539496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微软雅黑"/>
              </a:defRPr>
            </a:pPr>
            <a:r>
              <a:t>分析图片内容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5F"/>
                </a:solidFill>
                <a:latin typeface="微软雅黑"/>
              </a:defRPr>
            </a:pPr>
            <a:r>
              <a:t>MCP：AI的"万能接口"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3935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微软雅黑"/>
              </a:defRPr>
            </a:pPr>
            <a:r>
              <a:t>MCP（Model Context Protocol）是Anthropic推出的开放协议，让</a:t>
            </a:r>
            <a:r>
              <a:rPr lang="zh-CN"/>
              <a:t>各大模型</a:t>
            </a:r>
            <a:r>
              <a:t>能标准化地连接各种</a:t>
            </a:r>
          </a:p>
          <a:p>
            <a:pPr>
              <a:defRPr sz="1800">
                <a:solidFill>
                  <a:srgbClr val="333333"/>
                </a:solidFill>
                <a:latin typeface="微软雅黑"/>
              </a:defRPr>
            </a:pPr>
            <a:r>
              <a:t>数据源和工具。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011680"/>
            <a:ext cx="8503920" cy="1188720"/>
          </a:xfrm>
          <a:prstGeom prst="roundRect">
            <a:avLst/>
          </a:prstGeom>
          <a:solidFill>
            <a:srgbClr val="E3F2F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11680" y="21488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3A5F"/>
                </a:solidFill>
                <a:latin typeface="微软雅黑"/>
              </a:defRPr>
            </a:pPr>
            <a:r>
              <a:t>AI客户端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56032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微软雅黑"/>
              </a:defRPr>
            </a:pPr>
            <a:r>
              <a:t>Claude、GPT等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474720"/>
            <a:ext cx="8503920" cy="1188720"/>
          </a:xfrm>
          <a:prstGeom prst="roundRect">
            <a:avLst/>
          </a:prstGeom>
          <a:solidFill>
            <a:srgbClr val="FFF3E0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3611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6B35"/>
                </a:solidFill>
                <a:latin typeface="微软雅黑"/>
              </a:defRPr>
            </a:pPr>
            <a:r>
              <a:t>MCP协议层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02336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微软雅黑"/>
              </a:defRPr>
            </a:pPr>
            <a:r>
              <a:t>标准化接口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937760"/>
            <a:ext cx="8503920" cy="1188720"/>
          </a:xfrm>
          <a:prstGeom prst="roundRect">
            <a:avLst/>
          </a:prstGeom>
          <a:solidFill>
            <a:srgbClr val="E8F5E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11680" y="50749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CAF50"/>
                </a:solidFill>
                <a:latin typeface="微软雅黑"/>
              </a:defRPr>
            </a:pPr>
            <a:r>
              <a:t>资源/工具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48640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微软雅黑"/>
              </a:defRPr>
            </a:pPr>
            <a:r>
              <a:t>文件、数据库、API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6464"/>
                </a:solidFill>
                <a:latin typeface="微软雅黑"/>
              </a:defRPr>
            </a:pPr>
            <a:r>
              <a:t>【类比】就像USB-C接口统一了充电和数据传输，MCP统一了AI与外部世界的连接方式。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微软雅黑"/>
              </a:defRPr>
            </a:pPr>
            <a: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8C8C8"/>
                </a:solidFill>
                <a:latin typeface="微软雅黑"/>
              </a:defRPr>
            </a:pPr>
            <a:r>
              <a:t>OpenClaw 深度解析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5F"/>
                </a:solidFill>
                <a:latin typeface="微软雅黑"/>
              </a:defRPr>
            </a:pPr>
            <a:r>
              <a:t>OpenClaw：本地AI代理助手框架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834834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微软雅黑"/>
              </a:defRPr>
            </a:pPr>
            <a:r>
              <a:t>OpenClaw是一个开源的AI代理助手框架，让大模型能力真正"落地"到</a:t>
            </a:r>
            <a:r>
              <a:rPr b="1">
                <a:solidFill>
                  <a:srgbClr val="FF0000"/>
                </a:solidFill>
                <a:latin typeface="Arial Bold" panose="020B0704020202020204" charset="0"/>
              </a:rPr>
              <a:t>本地环境</a:t>
            </a:r>
            <a:r>
              <a:rPr b="1">
                <a:latin typeface="Arial Bold" panose="020B0704020202020204" charset="0"/>
              </a:rPr>
              <a:t>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486400" cy="2011680"/>
          </a:xfrm>
          <a:prstGeom prst="roundRect">
            <a:avLst/>
          </a:prstGeom>
          <a:solidFill>
            <a:srgbClr val="E8F5E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CAF50"/>
                </a:solidFill>
                <a:latin typeface="微软雅黑"/>
              </a:defRPr>
            </a:pPr>
            <a:r>
              <a:t>隐私保护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微软雅黑"/>
              </a:defRPr>
            </a:pPr>
            <a:r>
              <a:t>数据本地处理，不上传云端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011680"/>
            <a:ext cx="5486400" cy="2011680"/>
          </a:xfrm>
          <a:prstGeom prst="roundRect">
            <a:avLst/>
          </a:prstGeom>
          <a:solidFill>
            <a:srgbClr val="E3F2F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3A5F"/>
                </a:solidFill>
                <a:latin typeface="微软雅黑"/>
              </a:defRPr>
            </a:pPr>
            <a:r>
              <a:t>系统权限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微软雅黑"/>
              </a:defRPr>
            </a:pPr>
            <a:r>
              <a:t>结合Shell命令，操作本地系统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5486400" cy="2011680"/>
          </a:xfrm>
          <a:prstGeom prst="roundRect">
            <a:avLst/>
          </a:prstGeom>
          <a:solidFill>
            <a:srgbClr val="FFF3E0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6B35"/>
                </a:solidFill>
                <a:latin typeface="微软雅黑"/>
              </a:defRPr>
            </a:pPr>
            <a:r>
              <a:t>灵活交互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微软雅黑"/>
              </a:defRPr>
            </a:pPr>
            <a:r>
              <a:t>多通道设计，QQ/微信/邮件等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297680"/>
            <a:ext cx="5486400" cy="2011680"/>
          </a:xfrm>
          <a:prstGeom prst="roundRect">
            <a:avLst/>
          </a:prstGeom>
          <a:solidFill>
            <a:srgbClr val="F3E5F5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44805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9C27B0"/>
                </a:solidFill>
                <a:latin typeface="微软雅黑"/>
              </a:defRPr>
            </a:pPr>
            <a:r>
              <a:t>成本可控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50292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微软雅黑"/>
              </a:defRPr>
            </a:pPr>
            <a:r>
              <a:t>本地模型免费，云端按需调用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22605"/>
            <a:ext cx="1791335" cy="7645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3600" b="1">
                <a:solidFill>
                  <a:srgbClr val="1E3A5F"/>
                </a:solidFill>
                <a:latin typeface="微软雅黑"/>
              </a:defRPr>
            </a:pPr>
            <a:r>
              <a:rPr lang="en-US" altLang="zh-CN"/>
              <a:t>OpenClaw</a:t>
            </a:r>
            <a:r>
              <a:rPr lang="zh-CN" altLang="en-US"/>
              <a:t>系统架构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32405" y="1061085"/>
            <a:ext cx="6727190" cy="57016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5F"/>
                </a:solidFill>
                <a:latin typeface="微软雅黑"/>
              </a:defRPr>
            </a:pPr>
            <a:r>
              <a:t>OpenClaw 与大模型的关系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914400" y="1828800"/>
            <a:ext cx="2011680" cy="1097280"/>
            <a:chOff x="1440" y="2880"/>
            <a:chExt cx="3168" cy="1728"/>
          </a:xfrm>
        </p:grpSpPr>
        <p:sp>
          <p:nvSpPr>
            <p:cNvPr id="4" name="Rounded Rectangle 3"/>
            <p:cNvSpPr/>
            <p:nvPr/>
          </p:nvSpPr>
          <p:spPr>
            <a:xfrm>
              <a:off x="1440" y="2880"/>
              <a:ext cx="3168" cy="1728"/>
            </a:xfrm>
            <a:prstGeom prst="roundRect">
              <a:avLst/>
            </a:prstGeom>
            <a:solidFill>
              <a:srgbClr val="FFF3E0"/>
            </a:solidFill>
            <a:ln>
              <a:solidFill>
                <a:srgbClr val="FF6B3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440" y="3168"/>
              <a:ext cx="3168" cy="57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1400" b="1">
                  <a:solidFill>
                    <a:srgbClr val="333333"/>
                  </a:solidFill>
                  <a:latin typeface="微软雅黑"/>
                </a:defRPr>
              </a:pPr>
              <a:r>
                <a:t>用户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42340" y="3200400"/>
            <a:ext cx="219456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100">
                <a:solidFill>
                  <a:srgbClr val="646464"/>
                </a:solidFill>
                <a:latin typeface="微软雅黑"/>
              </a:defRPr>
            </a:pPr>
            <a:r>
              <a:t>通过QQ/微信/邮件发送请求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36900" y="2132330"/>
            <a:ext cx="457200" cy="45720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6" name="组合 25"/>
          <p:cNvGrpSpPr/>
          <p:nvPr/>
        </p:nvGrpSpPr>
        <p:grpSpPr>
          <a:xfrm>
            <a:off x="3726180" y="1812290"/>
            <a:ext cx="2011680" cy="1097280"/>
            <a:chOff x="4896" y="2880"/>
            <a:chExt cx="3168" cy="1728"/>
          </a:xfrm>
        </p:grpSpPr>
        <p:sp>
          <p:nvSpPr>
            <p:cNvPr id="8" name="Rounded Rectangle 7"/>
            <p:cNvSpPr/>
            <p:nvPr/>
          </p:nvSpPr>
          <p:spPr>
            <a:xfrm>
              <a:off x="4896" y="2880"/>
              <a:ext cx="3168" cy="172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896" y="3168"/>
              <a:ext cx="3168" cy="57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1400" b="1">
                  <a:solidFill>
                    <a:srgbClr val="333333"/>
                  </a:solidFill>
                  <a:latin typeface="微软雅黑"/>
                </a:defRPr>
              </a:pPr>
              <a:r>
                <a:t>OpenClaw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3714750" y="3195955"/>
            <a:ext cx="2186305" cy="5410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100">
                <a:solidFill>
                  <a:srgbClr val="646464"/>
                </a:solidFill>
                <a:latin typeface="微软雅黑"/>
              </a:defRPr>
            </a:pPr>
            <a:r>
              <a:t>接收消息、解析意图、管理上下文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09310" y="2148840"/>
            <a:ext cx="457200" cy="45720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7" name="组合 26"/>
          <p:cNvGrpSpPr/>
          <p:nvPr/>
        </p:nvGrpSpPr>
        <p:grpSpPr>
          <a:xfrm>
            <a:off x="6537960" y="1843405"/>
            <a:ext cx="2011680" cy="1097280"/>
            <a:chOff x="8352" y="2880"/>
            <a:chExt cx="3168" cy="1728"/>
          </a:xfrm>
        </p:grpSpPr>
        <p:sp>
          <p:nvSpPr>
            <p:cNvPr id="12" name="Rounded Rectangle 11"/>
            <p:cNvSpPr/>
            <p:nvPr/>
          </p:nvSpPr>
          <p:spPr>
            <a:xfrm>
              <a:off x="8352" y="2880"/>
              <a:ext cx="3168" cy="1728"/>
            </a:xfrm>
            <a:prstGeom prst="roundRect">
              <a:avLst/>
            </a:prstGeom>
            <a:solidFill>
              <a:srgbClr val="E3F2FD"/>
            </a:solidFill>
            <a:ln>
              <a:solidFill>
                <a:srgbClr val="1E3A5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352" y="3168"/>
              <a:ext cx="3168" cy="57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1400" b="1">
                  <a:solidFill>
                    <a:srgbClr val="1E3A5F"/>
                  </a:solidFill>
                  <a:latin typeface="微软雅黑"/>
                </a:defRPr>
              </a:pPr>
              <a:r>
                <a:t>大模型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6529705" y="3213100"/>
            <a:ext cx="2194560" cy="6394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100">
                <a:solidFill>
                  <a:srgbClr val="646464"/>
                </a:solidFill>
                <a:latin typeface="微软雅黑"/>
              </a:defRPr>
            </a:pPr>
            <a:r>
              <a:t>理解需求、生成回复、</a:t>
            </a:r>
            <a:r>
              <a:rPr lang="zh-CN"/>
              <a:t>选择工具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3714750" y="4161155"/>
            <a:ext cx="2101850" cy="1097280"/>
            <a:chOff x="4872" y="4968"/>
            <a:chExt cx="3310" cy="1728"/>
          </a:xfrm>
        </p:grpSpPr>
        <p:sp>
          <p:nvSpPr>
            <p:cNvPr id="16" name="Rounded Rectangle 15"/>
            <p:cNvSpPr/>
            <p:nvPr/>
          </p:nvSpPr>
          <p:spPr>
            <a:xfrm>
              <a:off x="4872" y="4968"/>
              <a:ext cx="3168" cy="172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8C8C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014" y="5256"/>
              <a:ext cx="3168" cy="57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1400" b="1">
                  <a:solidFill>
                    <a:srgbClr val="333333"/>
                  </a:solidFill>
                  <a:latin typeface="微软雅黑"/>
                </a:defRPr>
              </a:pPr>
              <a:r>
                <a:t>Skills/工具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3714750" y="5321300"/>
            <a:ext cx="2194560" cy="3213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100">
                <a:solidFill>
                  <a:srgbClr val="646464"/>
                </a:solidFill>
                <a:latin typeface="微软雅黑"/>
              </a:defRPr>
            </a:pPr>
            <a:r>
              <a:t>执行具体操作、获取数据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721089" y="2148840"/>
            <a:ext cx="457200" cy="45720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8" name="组合 27"/>
          <p:cNvGrpSpPr/>
          <p:nvPr/>
        </p:nvGrpSpPr>
        <p:grpSpPr>
          <a:xfrm>
            <a:off x="9349740" y="1828800"/>
            <a:ext cx="2011680" cy="1097280"/>
            <a:chOff x="15264" y="2880"/>
            <a:chExt cx="3168" cy="1728"/>
          </a:xfrm>
        </p:grpSpPr>
        <p:sp>
          <p:nvSpPr>
            <p:cNvPr id="20" name="Rounded Rectangle 19"/>
            <p:cNvSpPr/>
            <p:nvPr/>
          </p:nvSpPr>
          <p:spPr>
            <a:xfrm>
              <a:off x="15264" y="2880"/>
              <a:ext cx="3168" cy="1728"/>
            </a:xfrm>
            <a:prstGeom prst="roundRect">
              <a:avLst/>
            </a:prstGeom>
            <a:solidFill>
              <a:srgbClr val="FFF3E0"/>
            </a:solidFill>
            <a:ln>
              <a:solidFill>
                <a:srgbClr val="FF6B3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5264" y="3168"/>
              <a:ext cx="3168" cy="57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1400" b="1">
                  <a:solidFill>
                    <a:srgbClr val="333333"/>
                  </a:solidFill>
                  <a:latin typeface="微软雅黑"/>
                </a:defRPr>
              </a:pPr>
              <a:r>
                <a:t>返回结果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9337040" y="3216910"/>
            <a:ext cx="219456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100">
                <a:solidFill>
                  <a:srgbClr val="646464"/>
                </a:solidFill>
                <a:latin typeface="微软雅黑"/>
              </a:defRPr>
            </a:pPr>
            <a:r>
              <a:t>整合信息、回复用户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69940"/>
            <a:ext cx="10698480" cy="7207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/>
              </a:defRPr>
            </a:pPr>
            <a:r>
              <a:t>OpenClaw是"桥梁"和"管家"：它管理多通道接入、维护会话上下文、调用Skills工具，让大模型专注于"思考"，自己处理"执行"。</a:t>
            </a:r>
          </a:p>
        </p:txBody>
      </p:sp>
      <p:sp>
        <p:nvSpPr>
          <p:cNvPr id="29" name="上下箭头 28"/>
          <p:cNvSpPr/>
          <p:nvPr/>
        </p:nvSpPr>
        <p:spPr>
          <a:xfrm>
            <a:off x="4538980" y="3438525"/>
            <a:ext cx="363220" cy="659765"/>
          </a:xfrm>
          <a:prstGeom prst="upDown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22605"/>
            <a:ext cx="1791335" cy="7645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3600" b="1">
                <a:solidFill>
                  <a:srgbClr val="1E3A5F"/>
                </a:solidFill>
                <a:latin typeface="微软雅黑"/>
              </a:defRPr>
            </a:pPr>
            <a:r>
              <a:rPr lang="en-US"/>
              <a:t>ReAct</a:t>
            </a:r>
            <a:r>
              <a:rPr lang="zh-CN" altLang="en-US"/>
              <a:t>模型</a:t>
            </a:r>
          </a:p>
        </p:txBody>
      </p:sp>
      <p:pic>
        <p:nvPicPr>
          <p:cNvPr id="26" name="图片 25" descr="rea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865" y="622300"/>
            <a:ext cx="4953000" cy="5613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5F"/>
                </a:solidFill>
                <a:latin typeface="微软雅黑"/>
              </a:defRPr>
            </a:pPr>
            <a:r>
              <a:t>架构设计：继承与创新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572000"/>
          </a:xfrm>
          <a:prstGeom prst="roundRect">
            <a:avLst/>
          </a:prstGeom>
          <a:solidFill>
            <a:srgbClr val="E3F2F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3A5F"/>
                </a:solidFill>
                <a:latin typeface="微软雅黑"/>
              </a:defRPr>
            </a:pPr>
            <a:r>
              <a:t>【继承设计】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/>
              </a:defRPr>
            </a:pPr>
            <a:r>
              <a:t>✓ 遵循MCP协议标准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/>
              </a:defRPr>
            </a:pPr>
            <a:r>
              <a:t>✓ 兼容主流大模型API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/>
              </a:defRPr>
            </a:pPr>
            <a:r>
              <a:t>✓ 支持标准Skills接口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/>
              </a:defRPr>
            </a:pPr>
            <a:r>
              <a:t>✓ 采用成熟开源组件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572000"/>
          </a:xfrm>
          <a:prstGeom prst="roundRect">
            <a:avLst/>
          </a:prstGeom>
          <a:solidFill>
            <a:srgbClr val="FFF3E0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6B35"/>
                </a:solidFill>
                <a:latin typeface="微软雅黑"/>
              </a:defRPr>
            </a:pPr>
            <a:r>
              <a:t>【创新设计】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/>
              </a:defRPr>
            </a:pPr>
            <a:r>
              <a:t>★ 多通道统一接入（QQ/微信/邮件）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/>
              </a:defRPr>
            </a:pPr>
            <a:r>
              <a:t>★ 本地隐私优先架构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65760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/>
              </a:defRPr>
            </a:pPr>
            <a:r>
              <a:t>★ Shell命令集成能力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38912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/>
              </a:defRPr>
            </a:pPr>
            <a:r>
              <a:t>★ 灵活的Skills扩展机制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5F"/>
                </a:solidFill>
                <a:latin typeface="微软雅黑"/>
              </a:defRPr>
            </a:pPr>
            <a:r>
              <a:t>核心概念：Channel 与 Skills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572000"/>
          </a:xfrm>
          <a:prstGeom prst="roundRect">
            <a:avLst/>
          </a:prstGeom>
          <a:solidFill>
            <a:srgbClr val="E3F2F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  <a:latin typeface="微软雅黑"/>
              </a:defRPr>
            </a:pPr>
            <a:r>
              <a:t>Channel（通道）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微软雅黑"/>
              </a:defRPr>
            </a:pPr>
            <a:r>
              <a:t>AI与外部世界的"通信接口"，支持多种消息来源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微软雅黑"/>
              </a:defRPr>
            </a:pPr>
            <a:r>
              <a:t>📱 QQ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9260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微软雅黑"/>
              </a:defRPr>
            </a:pPr>
            <a:r>
              <a:t>📱 微信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77406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微软雅黑"/>
              </a:defRPr>
            </a:pPr>
            <a:r>
              <a:t>📱 </a:t>
            </a:r>
            <a:r>
              <a:rPr lang="zh-CN"/>
              <a:t>钉钉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5661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微软雅黑"/>
              </a:defRPr>
            </a:pPr>
            <a:r>
              <a:t>📱 Telegram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微软雅黑"/>
              </a:defRPr>
            </a:pPr>
            <a:r>
              <a:t>📱 Slack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303520" cy="4572000"/>
          </a:xfrm>
          <a:prstGeom prst="roundRect">
            <a:avLst/>
          </a:prstGeom>
          <a:solidFill>
            <a:srgbClr val="FFF3E0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35"/>
                </a:solidFill>
                <a:latin typeface="微软雅黑"/>
              </a:defRPr>
            </a:pPr>
            <a:r>
              <a:t>Skills（技能）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微软雅黑"/>
              </a:defRPr>
            </a:pPr>
            <a:r>
              <a:t>封装好的功能模块，即装即用的"APP"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微软雅黑"/>
              </a:defRPr>
            </a:pPr>
            <a:r>
              <a:t>🔧 天气查询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9260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微软雅黑"/>
              </a:defRPr>
            </a:pPr>
            <a:r>
              <a:t>🔧 文件管理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661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微软雅黑"/>
              </a:defRPr>
            </a:pPr>
            <a:r>
              <a:t>🔧 网页搜索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5661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微软雅黑"/>
              </a:defRPr>
            </a:pPr>
            <a:r>
              <a:t>🔧 代码执行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0624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微软雅黑"/>
              </a:defRPr>
            </a:pPr>
            <a:r>
              <a:t>🔧 定时任务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微软雅黑"/>
              </a:defRPr>
            </a:pPr>
            <a: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8C8C8"/>
                </a:solidFill>
                <a:latin typeface="微软雅黑"/>
              </a:defRPr>
            </a:pPr>
            <a:r>
              <a:t>未来展望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5F"/>
                </a:solidFill>
                <a:latin typeface="微软雅黑"/>
              </a:defRPr>
            </a:pPr>
            <a:r>
              <a:t>AI 代理助手的演进方向</a:t>
            </a:r>
          </a:p>
        </p:txBody>
      </p:sp>
      <p:sp>
        <p:nvSpPr>
          <p:cNvPr id="4" name="Oval 3"/>
          <p:cNvSpPr/>
          <p:nvPr/>
        </p:nvSpPr>
        <p:spPr>
          <a:xfrm>
            <a:off x="2103120" y="1828800"/>
            <a:ext cx="731520" cy="7315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03120" y="19659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3474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  <a:latin typeface="微软雅黑"/>
              </a:defRPr>
            </a:pPr>
            <a:r>
              <a:t>现在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微软雅黑"/>
              </a:defRPr>
            </a:pPr>
            <a:r>
              <a:t>信息汇总与报告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310896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704020202020204" pitchFamily="34" charset="0"/>
              <a:buChar char="•"/>
              <a:defRPr sz="1300">
                <a:solidFill>
                  <a:srgbClr val="646464"/>
                </a:solidFill>
                <a:latin typeface="微软雅黑"/>
              </a:defRPr>
            </a:pPr>
            <a:r>
              <a:t>查天气</a:t>
            </a:r>
          </a:p>
          <a:p>
            <a:pPr marL="285750" indent="-285750">
              <a:buFont typeface="Arial" panose="020B0704020202020204" pitchFamily="34" charset="0"/>
              <a:buChar char="•"/>
              <a:defRPr sz="1300">
                <a:solidFill>
                  <a:srgbClr val="646464"/>
                </a:solidFill>
                <a:latin typeface="微软雅黑"/>
              </a:defRPr>
            </a:pPr>
            <a:r>
              <a:t>整理文档</a:t>
            </a:r>
          </a:p>
          <a:p>
            <a:pPr marL="285750" indent="-285750">
              <a:buFont typeface="Arial" panose="020B0704020202020204" pitchFamily="34" charset="0"/>
              <a:buChar char="•"/>
              <a:defRPr sz="1300">
                <a:solidFill>
                  <a:srgbClr val="646464"/>
                </a:solidFill>
                <a:latin typeface="微软雅黑"/>
              </a:defRPr>
            </a:pPr>
            <a:r>
              <a:t>生成周报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3200400"/>
            <a:ext cx="274320" cy="4572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852159" y="1828800"/>
            <a:ext cx="731520" cy="7315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59" y="19659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2926080"/>
            <a:ext cx="3474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39" y="31089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B35"/>
                </a:solidFill>
                <a:latin typeface="微软雅黑"/>
              </a:defRPr>
            </a:pPr>
            <a:r>
              <a:t>近期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35661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微软雅黑"/>
              </a:defRPr>
            </a:pPr>
            <a:r>
              <a:t>任务自动化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4114800"/>
            <a:ext cx="3108960" cy="1091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704020202020204" pitchFamily="34" charset="0"/>
              <a:buChar char="•"/>
              <a:defRPr sz="1300">
                <a:solidFill>
                  <a:srgbClr val="646464"/>
                </a:solidFill>
                <a:latin typeface="微软雅黑"/>
              </a:defRPr>
            </a:pPr>
            <a:r>
              <a:t>定时提醒</a:t>
            </a:r>
          </a:p>
          <a:p>
            <a:pPr marL="285750" indent="-285750">
              <a:buFont typeface="Arial" panose="020B0704020202020204" pitchFamily="34" charset="0"/>
              <a:buChar char="•"/>
              <a:defRPr sz="1300">
                <a:solidFill>
                  <a:srgbClr val="646464"/>
                </a:solidFill>
                <a:latin typeface="微软雅黑"/>
              </a:defRPr>
            </a:pPr>
            <a:r>
              <a:t>数据处理</a:t>
            </a:r>
          </a:p>
          <a:p>
            <a:pPr marL="285750" indent="-285750">
              <a:buFont typeface="Arial" panose="020B0704020202020204" pitchFamily="34" charset="0"/>
              <a:buChar char="•"/>
              <a:defRPr sz="1300">
                <a:solidFill>
                  <a:srgbClr val="646464"/>
                </a:solidFill>
                <a:latin typeface="微软雅黑"/>
              </a:defRPr>
            </a:pPr>
            <a:r>
              <a:rPr lang="zh-CN"/>
              <a:t>文件整理</a:t>
            </a:r>
          </a:p>
          <a:p>
            <a:pPr marL="285750" indent="-285750">
              <a:buFont typeface="Arial" panose="020B0704020202020204" pitchFamily="34" charset="0"/>
              <a:buChar char="•"/>
              <a:defRPr sz="1300">
                <a:solidFill>
                  <a:srgbClr val="646464"/>
                </a:solidFill>
                <a:latin typeface="微软雅黑"/>
              </a:defRPr>
            </a:pPr>
            <a:r>
              <a:t>邮件回复</a:t>
            </a:r>
          </a:p>
          <a:p>
            <a:pPr marL="285750" indent="-285750">
              <a:buFont typeface="Arial" panose="020B0704020202020204" pitchFamily="34" charset="0"/>
              <a:buChar char="•"/>
              <a:defRPr sz="1300">
                <a:solidFill>
                  <a:srgbClr val="646464"/>
                </a:solidFill>
                <a:latin typeface="微软雅黑"/>
              </a:defRPr>
            </a:pPr>
            <a:r>
              <a:rPr lang="zh-CN"/>
              <a:t>群助手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3200400"/>
            <a:ext cx="274320" cy="4572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01200" y="1828800"/>
            <a:ext cx="731520" cy="7315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0" y="19659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926080"/>
            <a:ext cx="3474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31089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  <a:latin typeface="微软雅黑"/>
              </a:defRPr>
            </a:pPr>
            <a:r>
              <a:t>未来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5661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微软雅黑"/>
              </a:defRPr>
            </a:pPr>
            <a:r>
              <a:t>智能生活管家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114800"/>
            <a:ext cx="310896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704020202020204" pitchFamily="34" charset="0"/>
              <a:buChar char="•"/>
              <a:defRPr sz="1300">
                <a:solidFill>
                  <a:srgbClr val="646464"/>
                </a:solidFill>
                <a:latin typeface="微软雅黑"/>
              </a:defRPr>
            </a:pPr>
            <a:r>
              <a:rPr lang="zh-CN"/>
              <a:t>代理间的协作</a:t>
            </a:r>
          </a:p>
          <a:p>
            <a:pPr marL="285750" indent="-285750">
              <a:buFont typeface="Arial" panose="020B0704020202020204" pitchFamily="34" charset="0"/>
              <a:buChar char="•"/>
              <a:defRPr sz="1300">
                <a:solidFill>
                  <a:srgbClr val="646464"/>
                </a:solidFill>
                <a:latin typeface="微软雅黑"/>
              </a:defRPr>
            </a:pPr>
            <a:r>
              <a:rPr lang="zh-CN"/>
              <a:t>成为系统级代理助手</a:t>
            </a:r>
          </a:p>
          <a:p>
            <a:pPr marL="285750" indent="-285750">
              <a:buFont typeface="Arial" panose="020B0704020202020204" pitchFamily="34" charset="0"/>
              <a:buChar char="•"/>
              <a:defRPr sz="1300">
                <a:solidFill>
                  <a:srgbClr val="646464"/>
                </a:solidFill>
                <a:latin typeface="微软雅黑"/>
              </a:defRPr>
            </a:pPr>
            <a:r>
              <a:rPr lang="zh-CN"/>
              <a:t>技能包（</a:t>
            </a:r>
            <a:r>
              <a:rPr lang="en-US" altLang="zh-CN"/>
              <a:t>Skills</a:t>
            </a:r>
            <a:r>
              <a:rPr lang="zh-CN"/>
              <a:t>）的行业化</a:t>
            </a:r>
          </a:p>
          <a:p>
            <a:pPr marL="285750" indent="-285750">
              <a:buFont typeface="Arial" panose="020B0704020202020204" pitchFamily="34" charset="0"/>
              <a:buChar char="•"/>
              <a:defRPr sz="1300">
                <a:solidFill>
                  <a:srgbClr val="646464"/>
                </a:solidFill>
                <a:latin typeface="微软雅黑"/>
              </a:defRPr>
            </a:pPr>
            <a:r>
              <a:rPr lang="zh-CN"/>
              <a:t>。。。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4435" y="1107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5F"/>
                </a:solidFill>
                <a:latin typeface="微软雅黑"/>
              </a:defRPr>
            </a:pPr>
            <a:r>
              <a:t>趋势：从"你问我答"到"主动服务"，AI代理助手将成为每个人的数字伙伴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  <a:latin typeface="微软雅黑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8C8C8"/>
                </a:solidFill>
                <a:latin typeface="微软雅黑"/>
              </a:defRPr>
            </a:pPr>
            <a:r>
              <a:t>欢迎交流讨论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6B35"/>
                </a:solidFill>
                <a:latin typeface="微软雅黑"/>
              </a:defRPr>
            </a:pPr>
            <a:r>
              <a:t>OpenClaw · AI代理助手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</Words>
  <Application>Microsoft Macintosh PowerPoint</Application>
  <PresentationFormat>宽屏</PresentationFormat>
  <Paragraphs>186</Paragraphs>
  <Slides>20</Slides>
  <Notes>17</Notes>
  <HiddenSlides>1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Arial</vt:lpstr>
      <vt:lpstr>Arial Bold</vt:lpstr>
      <vt:lpstr>Calibri</vt:lpstr>
      <vt:lpstr>宋体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15.0026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dc:description>generated using python-pptx</dc:description>
  <cp:lastModifiedBy>Microsoft Office 用户</cp:lastModifiedBy>
  <cp:revision>24</cp:revision>
  <dcterms:created xsi:type="dcterms:W3CDTF">2026-03-26T07:26:35Z</dcterms:created>
  <dcterms:modified xsi:type="dcterms:W3CDTF">2026-03-27T01:34:33Z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15B76A86044B1B1412ADC3691640A7CF_42</vt:lpwstr>
  </property>
  <property fmtid="{D5CDD505-2E9C-101B-9397-08002B2CF9AE}" pid="3" name="KSOProductBuildVer">
    <vt:lpwstr>2052-6.7.0.8823</vt:lpwstr>
  </property>
</Properties>
</file>